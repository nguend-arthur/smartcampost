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103120"/>
            <a:ext cx="6400800" cy="640080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926080" cy="29260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9CF"/>
                </a:solidFill>
                <a:latin typeface="Calibri"/>
              </a:rPr>
              <a:t>THE ICT UNIVERSITY  •  FACULTY OF INFORMATION AND COMMUNICATION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20"/>
            <a:ext cx="502920" cy="64008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mbria"/>
              </a:rPr>
              <a:t>SmartCAMPOST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D3E5"/>
                </a:solidFill>
                <a:latin typeface="Calibri"/>
              </a:rPr>
              <a:t>An Intelligent Parcel Tracking, Collection, and Delivery System</a:t>
            </a:r>
          </a:p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D3E5"/>
                </a:solidFill>
                <a:latin typeface="Calibri"/>
              </a:rPr>
              <a:t>Using QR Codes, GPS, and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5040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Nguend Arthur Johann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5257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MATRICULE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55040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ICTU20223180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257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555040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Eng. TANWI NKIAMBOH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25780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DEFENSE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550408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PLAN OF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3294B"/>
                </a:solidFill>
                <a:latin typeface="Cambria"/>
              </a:rPr>
              <a:t>What I Will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9339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Motivational Example &amp;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087368" y="1828800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199339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542032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Domain &amp; Core Innovations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6096" y="1828800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9339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54696" y="2542032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Aim, Objectives &amp; Research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Literature &amp; Similar Projects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3538728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37033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251960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Methodology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6096" y="3538728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37033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4251960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Architecture, Use Case &amp; Class Diagrams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48656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1324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6188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Database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7368" y="5248656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541324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596188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Implementation &amp;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6096" y="5248656"/>
            <a:ext cx="3246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541324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7D2E0"/>
                </a:solidFill>
                <a:latin typeface="Cambria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5961888"/>
            <a:ext cx="2788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3294B"/>
                </a:solidFill>
                <a:latin typeface="Calibri"/>
              </a:rPr>
              <a:t>Results, Limitations &amp; 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MOTIVATIONAL EXAMPLE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3294B"/>
                </a:solidFill>
                <a:latin typeface="Cambria"/>
              </a:rPr>
              <a:t>Why This Project: A Visibility Gap I Saw Firsthand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50000"/>
            <a:ext cx="1109472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During fieldwork at two CAMPOST agencies in Yaoundé, the same question came up again and again at the counter: “Where is my parcel?” Staff could only answer with a phone call to another office or by searching a paper logbook. That visibility gap was not a hypothetical for me — it is what I personally watched customers and staff struggle with, and it is what motivated SmartCAMPOST.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80000"/>
            <a:ext cx="11094720" cy="4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30000"/>
            <a:ext cx="1109472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CAMPOST, the national postal operator, still runs largely on manual, paper-based processes: handwritten pickup receipts, manual data entry at the counter, and phone calls as the only way to check where a parcel is. Meanwhile, mobile money penetration in Cameroon has reached over 65% of adults, yet no integrated platform connects parcel tracking with MTN MoMo or Orange Money payment.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00000"/>
            <a:ext cx="11094720" cy="70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900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A93B"/>
                </a:solidFill>
                <a:latin typeface="Calibri"/>
              </a:rPr>
              <a:t>THE 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60000"/>
            <a:ext cx="105460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Customers, agents, and CAMPOST staff have no shared, real-time view of where a parcel is, or how to pay for it digitally.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5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8B8D"/>
                </a:solidFill>
                <a:latin typeface="Cambria"/>
              </a:rPr>
              <a:t>65%+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0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Mobile money adoption among Cameroonian adults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1744" y="455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8B8D"/>
                </a:solidFill>
                <a:latin typeface="Cambr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1744" y="510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Integrated digital tracking + payment platforms for CAMPOST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4848" y="455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8B8D"/>
                </a:solidFill>
                <a:latin typeface="Cambria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4848" y="5100000"/>
            <a:ext cx="3588512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Manual, paper-based proof of pickup and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93B"/>
                </a:solidFill>
                <a:latin typeface="Calibri"/>
              </a:rPr>
              <a:t>DOMAIN &amp; CORE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An Intelligent Logistics Platform for the Cameroonian Postal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30000"/>
            <a:ext cx="1109472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C9D3E5"/>
                </a:solidFill>
                <a:latin typeface="Calibri"/>
              </a:rPr>
              <a:t>DOMAIN: Intelligent multi-platform logistics software engineering — combining QR identification, GPS geolocation, mobile payments, and AI-assisted operations within a single postal-tracking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0000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2232880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90000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Two-Step QR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60000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Partial QR on creation, HMAC-SHA256-signed final QR on agency intake — tamper-proof at every handoff.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1744" y="2050000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2912" y="2232880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912" y="2690000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OTP-Confirmed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912" y="3060000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Courier scans final QR, then a recipient OTP via SMS proves physical receipt before status flips to DELIVERED.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4848" y="2050000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6016" y="2232880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6016" y="2690000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USSD for Feature Phones (Designed)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6016" y="3060000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*123# menu architected against the NPSI switch for non-smartphone tracking and payment access — implementation scheduled for the next phase.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94592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777472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34592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Native Mobile 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04592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MTN MoMo and Orange Money behind one provider-agnostic gateway with async webhook confirmation.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1744" y="3594592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2912" y="3777472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2912" y="4234592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Self-Healing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2912" y="4604592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A LangGraph-style agent monitors congestion and recommends re-routing without human prompting.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54848" y="3594592"/>
            <a:ext cx="3588512" cy="138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6016" y="3777472"/>
            <a:ext cx="365760" cy="36576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6016" y="4234592"/>
            <a:ext cx="318617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Seven-Role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6016" y="4604592"/>
            <a:ext cx="3186176" cy="3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C9D3E5"/>
                </a:solidFill>
                <a:latin typeface="Calibri"/>
              </a:rPr>
              <a:t>CLIENT, AGENT, COURIER, STAFF, ADMIN, FINANCE, RISK — each with method-level @PreAuthorize boundaries.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AIM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3294B"/>
                </a:solidFill>
                <a:latin typeface="Cambria"/>
              </a:rPr>
              <a:t>One General Objective, Four Targets — All Fulfilled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0000"/>
            <a:ext cx="11094720" cy="56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00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8B8D"/>
                </a:solidFill>
                <a:latin typeface="Calibri"/>
              </a:rPr>
              <a:t>GENERAL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40000"/>
            <a:ext cx="105460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To design and implement SmartCAMPOST, an intelligent multi-platform parcel tracking, collection, and delivery management system that extends the digital capabilities of CAMPOST by integrating QR codes, GPS, and Artificial Intelligence. (Erl, 2005)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000"/>
            <a:ext cx="2650236" cy="18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160"/>
            <a:ext cx="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7D2E0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94B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10000"/>
            <a:ext cx="2284476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a relational data model and a layered system architecture supporting seven distinct operational roles.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70000"/>
            <a:ext cx="22844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8B8D"/>
                </a:solidFill>
                <a:latin typeface="Calibri"/>
              </a:rPr>
              <a:t>FULFILLED — Ch.4 architecture + 45-table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3468" y="2240000"/>
            <a:ext cx="2650236" cy="18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6348" y="2377160"/>
            <a:ext cx="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7D2E0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348" y="276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94B"/>
                </a:solidFill>
                <a:latin typeface="Calibri"/>
              </a:rP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6348" y="3110000"/>
            <a:ext cx="2284476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QR-based parcel verification, GPS delivery tracking, and MTN/Orange Money payment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6348" y="3770000"/>
            <a:ext cx="22844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8B8D"/>
                </a:solidFill>
                <a:latin typeface="Calibri"/>
              </a:rPr>
              <a:t>FULFILLED — live in deployed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296" y="2240000"/>
            <a:ext cx="2650236" cy="18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176" y="2377160"/>
            <a:ext cx="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7D2E0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176" y="276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94B"/>
                </a:solidFill>
                <a:latin typeface="Calibri"/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176" y="3110000"/>
            <a:ext cx="2284476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an AI-assisted operations layer for risk alerts, recommendations, and self-healing congestion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176" y="3770000"/>
            <a:ext cx="22844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8B8D"/>
                </a:solidFill>
                <a:latin typeface="Calibri"/>
              </a:rPr>
              <a:t>FULFILLED — multi-agent AI module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3124" y="2240000"/>
            <a:ext cx="2650236" cy="18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6004" y="2377160"/>
            <a:ext cx="7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7D2E0"/>
                </a:solidFill>
                <a:latin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276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294B"/>
                </a:solidFill>
                <a:latin typeface="Calibri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6004" y="3110000"/>
            <a:ext cx="2284476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the platform through automated testing and a bilingual user-acceptance survey.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6004" y="3770000"/>
            <a:ext cx="228447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F8B8D"/>
                </a:solidFill>
                <a:latin typeface="Calibri"/>
              </a:rPr>
              <a:t>FULFILLED — 99.4% test pass rate, 50-respondent survey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RESEARCH QUESTION &amp;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3294B"/>
                </a:solidFill>
                <a:latin typeface="Cambria"/>
              </a:rPr>
              <a:t>What We Asked, and What Existing Research Misses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11094720" cy="72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0000"/>
            <a:ext cx="1054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A93B"/>
                </a:solidFill>
                <a:latin typeface="Calibri"/>
              </a:rPr>
              <a:t>OVERARCHING 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60000"/>
            <a:ext cx="10546080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How can QR Code technology, GPS geolocation, Artificial Intelligence, and multi-platform software development be integrated to design an intelligent parcel system that is operationally suitable for the Cameroonian postal context?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60000"/>
            <a:ext cx="2650236" cy="11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97160"/>
            <a:ext cx="320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0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Postal Digitalisation in Africa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0000"/>
            <a:ext cx="2284476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Kuteyi &amp; Winkler (2022) document weak digital infrastructure across Sub-Saharan postal operators.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3468" y="2360000"/>
            <a:ext cx="2650236" cy="11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46348" y="2497160"/>
            <a:ext cx="320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6348" y="290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QR Code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348" y="3160000"/>
            <a:ext cx="2284476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Ashtekar &amp; Kunnurkar (2022) show QR-based location detection improves transport visibility.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8296" y="2360000"/>
            <a:ext cx="2650236" cy="11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1176" y="2497160"/>
            <a:ext cx="320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176" y="290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GPS Delivery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176" y="3160000"/>
            <a:ext cx="2284476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Multiple studies confirm GPS reduces delivery disputes, but few integrate it with local payment rails.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3124" y="2360000"/>
            <a:ext cx="2650236" cy="11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76004" y="2497160"/>
            <a:ext cx="320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6004" y="290000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Mobile Money 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6004" y="3160000"/>
            <a:ext cx="2284476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Ahmad, Green &amp; Jiang (2020) establish mobile money as Africa's dominant financial-inclusion channel.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0000"/>
            <a:ext cx="11094720" cy="105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870000"/>
            <a:ext cx="457200" cy="457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5640" y="3760000"/>
            <a:ext cx="97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A93B"/>
                </a:solidFill>
                <a:latin typeface="Calibri"/>
              </a:rPr>
              <a:t>THE RESEARCH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5640" y="4020000"/>
            <a:ext cx="97947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 existing platform combines real-time GPS tracking, two-step QR verification, mobile money payment, USSD access for feature phones, and AI-assisted operations within a single system designed for the Cameroonian postal context. SmartCAMPOST's design and current implementation close most of this gap; the USSD channel is architected but not yet built (see Limitations).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REVIEW OF SIMILAR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3294B"/>
                </a:solidFill>
                <a:latin typeface="Cambria"/>
              </a:rPr>
              <a:t>Named Platforms, and the Gaps SmartCAMPOST Closes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0000"/>
            <a:ext cx="2650236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640" y="1560000"/>
            <a:ext cx="253023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8876" y="1500000"/>
            <a:ext cx="1407414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876" y="1560000"/>
            <a:ext cx="1287414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QR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06290" y="1500000"/>
            <a:ext cx="1407414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6290" y="1560000"/>
            <a:ext cx="1287414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GPS Real-Time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3704" y="1500000"/>
            <a:ext cx="1700000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3704" y="1560000"/>
            <a:ext cx="158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AI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3704" y="1500000"/>
            <a:ext cx="1850000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3704" y="1560000"/>
            <a:ext cx="17300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Mobile Payment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3704" y="1500000"/>
            <a:ext cx="1407414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3704" y="1560000"/>
            <a:ext cx="1287414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Offline 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1118" y="1500000"/>
            <a:ext cx="672242" cy="38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31118" y="1560000"/>
            <a:ext cx="552242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80000"/>
            <a:ext cx="2650236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640" y="1960000"/>
            <a:ext cx="253023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DHL Express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8876" y="188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8876" y="196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6290" y="188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290" y="196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3704" y="1880000"/>
            <a:ext cx="1700000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3704" y="1960000"/>
            <a:ext cx="158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ETA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13704" y="1880000"/>
            <a:ext cx="1850000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3704" y="1960000"/>
            <a:ext cx="173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Limited (cards)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3704" y="188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3704" y="196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1118" y="1880000"/>
            <a:ext cx="672242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31118" y="1960000"/>
            <a:ext cx="552242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310000"/>
            <a:ext cx="2650236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640" y="2390000"/>
            <a:ext cx="253023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PostNL (Netherlands)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98876" y="231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58876" y="239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6290" y="231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6290" y="239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13704" y="2310000"/>
            <a:ext cx="17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73704" y="2390000"/>
            <a:ext cx="158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Route optimisation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13704" y="2310000"/>
            <a:ext cx="18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3704" y="2390000"/>
            <a:ext cx="173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EU-only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63704" y="231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3704" y="239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1118" y="2310000"/>
            <a:ext cx="672242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31118" y="2390000"/>
            <a:ext cx="552242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740000"/>
            <a:ext cx="2650236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640" y="2820000"/>
            <a:ext cx="253023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India Post eParcel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98876" y="274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8876" y="282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6290" y="274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6290" y="282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13704" y="2740000"/>
            <a:ext cx="1700000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73704" y="2820000"/>
            <a:ext cx="158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13704" y="2740000"/>
            <a:ext cx="1850000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3704" y="2820000"/>
            <a:ext cx="173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UPI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63704" y="2740000"/>
            <a:ext cx="1407414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23704" y="282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71118" y="2740000"/>
            <a:ext cx="672242" cy="430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31118" y="2820000"/>
            <a:ext cx="552242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170000"/>
            <a:ext cx="2650236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640" y="3250000"/>
            <a:ext cx="253023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Jumia Logistics (Africa)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98876" y="317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8876" y="325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Partial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06290" y="317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6290" y="325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Yes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3704" y="3170000"/>
            <a:ext cx="17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73704" y="3250000"/>
            <a:ext cx="158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13704" y="3170000"/>
            <a:ext cx="185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3704" y="3250000"/>
            <a:ext cx="173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Mobile Money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63704" y="3170000"/>
            <a:ext cx="1407414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23704" y="325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1118" y="3170000"/>
            <a:ext cx="672242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31118" y="3250000"/>
            <a:ext cx="552242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3600000"/>
            <a:ext cx="2650236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8640" y="3680000"/>
            <a:ext cx="2530236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SmartCAMPOST (this work)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98876" y="3600000"/>
            <a:ext cx="1407414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58876" y="368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Dual QR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06290" y="3600000"/>
            <a:ext cx="1407414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66290" y="368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Yes (live)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13704" y="3600000"/>
            <a:ext cx="1700000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73704" y="3680000"/>
            <a:ext cx="158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Multi-agent AI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13704" y="3600000"/>
            <a:ext cx="1850000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73704" y="3680000"/>
            <a:ext cx="173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MTN/Orange/CAMPOST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63704" y="3600000"/>
            <a:ext cx="1407414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23704" y="3680000"/>
            <a:ext cx="1287414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Yes (sync)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1118" y="3600000"/>
            <a:ext cx="672242" cy="43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31118" y="3680000"/>
            <a:ext cx="552242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4260000"/>
            <a:ext cx="1109472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64748B"/>
                </a:solidFill>
                <a:latin typeface="Calibri"/>
              </a:rPr>
              <a:t>Gap: no competitor offers offline sync, three of four have no or limited AI, three of four are payment region-locked, and the maximum competitor role count is 3 versus SmartCAMPOST's 7. (Source: dissertation Ch.2, Table 2)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3294B"/>
                </a:solidFill>
                <a:latin typeface="Cambria"/>
              </a:rPr>
              <a:t>A Hybrid of Merise and Agile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30000"/>
            <a:ext cx="1109472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Four methodologies were evaluated. Three were rejected; their weaknesses justify the hybrid choice.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80000"/>
            <a:ext cx="2650236" cy="11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716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3294B"/>
                </a:solidFill>
                <a:latin typeface="Calibri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000"/>
            <a:ext cx="2284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0000"/>
            <a:ext cx="2284476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Rigid, sequential, no room for changing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3468" y="1880000"/>
            <a:ext cx="2650236" cy="11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6348" y="201716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3294B"/>
                </a:solidFill>
                <a:latin typeface="Calibri"/>
              </a:rPr>
              <a:t>V-Shape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6348" y="2340000"/>
            <a:ext cx="2284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REJECTED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6348" y="2610000"/>
            <a:ext cx="2284476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Same rigidity, late user involvement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296" y="1880000"/>
            <a:ext cx="2650236" cy="11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1176" y="201716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3294B"/>
                </a:solidFill>
                <a:latin typeface="Calibri"/>
              </a:rPr>
              <a:t>Spiral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176" y="2340000"/>
            <a:ext cx="2284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176" y="2610000"/>
            <a:ext cx="2284476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Complex, expensive, unpredictable timelines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3124" y="1880000"/>
            <a:ext cx="2650236" cy="11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6004" y="2017160"/>
            <a:ext cx="2284476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3294B"/>
                </a:solidFill>
                <a:latin typeface="Calibri"/>
              </a:rPr>
              <a:t>Merise + Agile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6004" y="2340000"/>
            <a:ext cx="22844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F8B8D"/>
                </a:solidFill>
                <a:latin typeface="Calibri"/>
              </a:rPr>
              <a:t>SELECTED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6004" y="2610000"/>
            <a:ext cx="2284476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Rigorous data modelling, iterative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20000"/>
            <a:ext cx="1109472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Merise structured the 45-table relational schema through rigorous MCD and MLD modelling before any code was written. Agile Scrum then drove 12 iterative sprints (Nov 2025 – Feb 2026), accommodating evolving requirements discovered during MTN MoMo API integration and testing.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50000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8B8D"/>
                </a:solidFill>
                <a:latin typeface="Calibri"/>
              </a:rPr>
              <a:t>12 SPRINTS  ·  NOV 2025 — FEB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00000"/>
            <a:ext cx="899414" cy="50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75486" y="4500000"/>
            <a:ext cx="899414" cy="50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75486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02332" y="4500000"/>
            <a:ext cx="899414" cy="50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02332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29178" y="4500000"/>
            <a:ext cx="899414" cy="50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29178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6024" y="4500000"/>
            <a:ext cx="899414" cy="5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6024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2870" y="4500000"/>
            <a:ext cx="899414" cy="5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2870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9716" y="4500000"/>
            <a:ext cx="899414" cy="5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9716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36562" y="4500000"/>
            <a:ext cx="899414" cy="5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6562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3408" y="4500000"/>
            <a:ext cx="899414" cy="5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63408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90254" y="4500000"/>
            <a:ext cx="899414" cy="50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0254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17100" y="4500000"/>
            <a:ext cx="899414" cy="50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17100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43946" y="4500000"/>
            <a:ext cx="899414" cy="50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43946" y="4520000"/>
            <a:ext cx="8994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60000"/>
            <a:ext cx="3679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Design &amp; Setup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6024" y="5060000"/>
            <a:ext cx="46067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Core 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0254" y="5060000"/>
            <a:ext cx="27531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4748B"/>
                </a:solidFill>
                <a:latin typeface="Calibri"/>
              </a:rPr>
              <a:t>Hardening &amp; Deployment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3294B"/>
                </a:solidFill>
                <a:latin typeface="Cambria"/>
              </a:rPr>
              <a:t>Layered Modular Monolith with Multi-Channel Access and Event-Driven Boundaries</a:t>
            </a:r>
          </a:p>
        </p:txBody>
      </p:sp>
      <p:pic>
        <p:nvPicPr>
          <p:cNvPr id="4" name="Picture 3" descr="SmartCAMPOST_Complete_Architect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839" y="1500000"/>
            <a:ext cx="6336320" cy="47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USER ROLES &amp; 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3294B"/>
                </a:solidFill>
                <a:latin typeface="Cambria"/>
              </a:rPr>
              <a:t>Seven Roles, Five External Systems, One Shared Platform</a:t>
            </a:r>
          </a:p>
        </p:txBody>
      </p:sp>
      <p:pic>
        <p:nvPicPr>
          <p:cNvPr id="4" name="Picture 3" descr="usecas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978" y="1480000"/>
            <a:ext cx="5214042" cy="50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CLASS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3294B"/>
                </a:solidFill>
                <a:latin typeface="Cambria"/>
              </a:rPr>
              <a:t>Object-Oriented Domain Model</a:t>
            </a:r>
          </a:p>
        </p:txBody>
      </p:sp>
      <p:pic>
        <p:nvPicPr>
          <p:cNvPr id="4" name="Picture 3" descr="image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258" y="1550000"/>
            <a:ext cx="6793483" cy="49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10000"/>
            <a:ext cx="110947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4748B"/>
                </a:solidFill>
                <a:latin typeface="Calibri"/>
              </a:rPr>
              <a:t>Parcel, Client, Courier, Agent, Staff, Payment, Invoice, DeliveryOtp, ScanEvent, Agency, RiskAlert, AuditLog — with typed attributes and labelled multiplicities. (Gamma et al., 1994; source: dissertation Ch.4)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3294B"/>
                </a:solidFill>
                <a:latin typeface="Cambria"/>
              </a:rPr>
              <a:t>Merise-Modelled Relational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0000"/>
            <a:ext cx="2650236" cy="9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10000"/>
            <a:ext cx="237591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8B8D"/>
                </a:solidFill>
                <a:latin typeface="Cambria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60000"/>
            <a:ext cx="237591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Database tables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3468" y="1500000"/>
            <a:ext cx="2650236" cy="9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0628" y="1610000"/>
            <a:ext cx="237591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8B8D"/>
                </a:solidFill>
                <a:latin typeface="Cambria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628" y="2060000"/>
            <a:ext cx="237591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REST controllers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8296" y="1500000"/>
            <a:ext cx="2650236" cy="9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5456" y="1610000"/>
            <a:ext cx="237591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8B8D"/>
                </a:solidFill>
                <a:latin typeface="Cambria"/>
              </a:rPr>
              <a:t>65+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5456" y="2060000"/>
            <a:ext cx="237591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Service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3124" y="1500000"/>
            <a:ext cx="2650236" cy="90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0284" y="1610000"/>
            <a:ext cx="2375916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8B8D"/>
                </a:solidFill>
                <a:latin typeface="Cambria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0284" y="2060000"/>
            <a:ext cx="2375916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Distinct user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20000"/>
            <a:ext cx="1109472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2E"/>
                </a:solidFill>
                <a:latin typeface="Calibri"/>
              </a:rPr>
              <a:t>Key entities: Parcel, ScanEvent, Payment, Invoice, DeliveryOtp, RiskAlert, AuditLog, UssdSession, AiAgentState</a:t>
            </a:r>
          </a:p>
        </p:txBody>
      </p:sp>
      <p:pic>
        <p:nvPicPr>
          <p:cNvPr id="17" name="Picture 16" descr="mc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254" y="3050000"/>
            <a:ext cx="5005491" cy="30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IMPLEMENTATION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3294B"/>
                </a:solidFill>
                <a:latin typeface="Cambria"/>
              </a:rPr>
              <a:t>Technology Stack, Verified Across Every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219456" cy="219456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Java 17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Spring Boot 3.5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Spring Security (JWT)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Spring Data JPA</a:t>
            </a:r>
          </a:p>
        </p:txBody>
      </p:sp>
      <p:sp>
        <p:nvSpPr>
          <p:cNvPr id="7" name="Oval 6"/>
          <p:cNvSpPr/>
          <p:nvPr/>
        </p:nvSpPr>
        <p:spPr>
          <a:xfrm>
            <a:off x="2407136" y="1430000"/>
            <a:ext cx="219456" cy="219456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0600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7136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React 19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TypeScript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Vite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Tailwind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5632" y="1430000"/>
            <a:ext cx="219456" cy="219456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9096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5632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Flutter / Dart 3.11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GoRouter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Provider state mgmt</a:t>
            </a:r>
          </a:p>
        </p:txBody>
      </p:sp>
      <p:sp>
        <p:nvSpPr>
          <p:cNvPr id="13" name="Oval 12"/>
          <p:cNvSpPr/>
          <p:nvPr/>
        </p:nvSpPr>
        <p:spPr>
          <a:xfrm>
            <a:off x="6124128" y="1430000"/>
            <a:ext cx="219456" cy="219456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7592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Data &amp;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128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MySQL 8 / TiDB Cloud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H2 (local dev)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Caffeine cache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2624" y="1430000"/>
            <a:ext cx="219456" cy="219456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088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AI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624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OpenAI GPT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LangGraph-style orchestrator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Twilio SMS</a:t>
            </a:r>
          </a:p>
        </p:txBody>
      </p:sp>
      <p:sp>
        <p:nvSpPr>
          <p:cNvPr id="19" name="Oval 18"/>
          <p:cNvSpPr/>
          <p:nvPr/>
        </p:nvSpPr>
        <p:spPr>
          <a:xfrm>
            <a:off x="9841120" y="1430000"/>
            <a:ext cx="219456" cy="219456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4584" y="1420000"/>
            <a:ext cx="1525032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Payments &amp;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1120" y="1800000"/>
            <a:ext cx="1808496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MTN MoMo API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Orange Money API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•  Render + Vercel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50000"/>
            <a:ext cx="11094720" cy="4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20000"/>
            <a:ext cx="2331720" cy="17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260000"/>
            <a:ext cx="2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8B8D"/>
                </a:solidFill>
                <a:latin typeface="Cambria"/>
              </a:rPr>
              <a:t>99.4%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50000"/>
            <a:ext cx="2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294B"/>
                </a:solidFill>
                <a:latin typeface="Calibri"/>
              </a:rPr>
              <a:t>AUTOMATED TEST PASS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020000"/>
            <a:ext cx="200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Across unit, integration, and end-to-end suites covering all seven roles.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9816" y="3120000"/>
            <a:ext cx="1986300" cy="17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6976" y="3260000"/>
            <a:ext cx="17119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Unit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3640000"/>
            <a:ext cx="171198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JUnit 5 + Mockito covering service-layer business logic, QR signing, and OTP expiry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5844" y="3120000"/>
            <a:ext cx="1986300" cy="17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3004" y="3260000"/>
            <a:ext cx="17119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Integration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3004" y="3640000"/>
            <a:ext cx="171198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Spring Boot Test against an in-memory H2 database, validating repository and controller wiring.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1872" y="3120000"/>
            <a:ext cx="1986300" cy="17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9032" y="3260000"/>
            <a:ext cx="17119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End-to-End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032" y="3640000"/>
            <a:ext cx="171198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Playwright automated flows across CLIENT, COURIER, and ADMIN roles in the deployed web portal.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87900" y="3120000"/>
            <a:ext cx="1986300" cy="175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60" y="3260000"/>
            <a:ext cx="17119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94B"/>
                </a:solidFill>
                <a:latin typeface="Calibri"/>
              </a:rPr>
              <a:t>Manual &amp; Exploratory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60" y="3640000"/>
            <a:ext cx="171198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Structured manual passes logged bugs found and fixed prior to defense, tracked in Table 13.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USER VALIDATION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3294B"/>
                </a:solidFill>
                <a:latin typeface="Cambria"/>
              </a:rPr>
              <a:t>Survey Evidence, Project Metrics, and Objectives Fulfilled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30000"/>
            <a:ext cx="6900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50 respondents · English and French questionnaires · Distributed across client, agent, and staff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0000"/>
            <a:ext cx="6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2E"/>
                </a:solidFill>
                <a:latin typeface="Calibri"/>
              </a:rPr>
              <a:t>Would use mobile money for parcel 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10000"/>
            <a:ext cx="6400000" cy="320000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10000"/>
            <a:ext cx="5632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8072" y="2110000"/>
            <a:ext cx="45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50000"/>
            <a:ext cx="6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2E"/>
                </a:solidFill>
                <a:latin typeface="Calibri"/>
              </a:rPr>
              <a:t>Want real-time GPS tracking of their parcel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40000"/>
            <a:ext cx="6400000" cy="320000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40000"/>
            <a:ext cx="5888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072" y="2840000"/>
            <a:ext cx="45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92%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80000"/>
            <a:ext cx="6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2E"/>
                </a:solidFill>
                <a:latin typeface="Calibri"/>
              </a:rPr>
              <a:t>Rate current CAMPOST tracking as poor or very poor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70000"/>
            <a:ext cx="6400000" cy="320000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70000"/>
            <a:ext cx="4864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072" y="3570000"/>
            <a:ext cx="45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10000"/>
            <a:ext cx="6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A1A2E"/>
                </a:solidFill>
                <a:latin typeface="Calibri"/>
              </a:rPr>
              <a:t>Would use a USSD option if no smartphone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00000"/>
            <a:ext cx="6400000" cy="320000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00000"/>
            <a:ext cx="5184000" cy="32000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72" y="4300000"/>
            <a:ext cx="45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3294B"/>
                </a:solidFill>
                <a:latin typeface="Calibri"/>
              </a:rPr>
              <a:t>81%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8640" y="1820000"/>
            <a:ext cx="3794720" cy="2950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2960" y="2050000"/>
            <a:ext cx="365760" cy="36576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2960" y="2580000"/>
            <a:ext cx="324608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FFFFFF"/>
                </a:solidFill>
                <a:latin typeface="Cambria"/>
              </a:rPr>
              <a:t>“Participants overwhelmingly confirmed the problem is real and that they would adopt a digital, mobile-money-enabled alternative.”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2960" y="4280000"/>
            <a:ext cx="32460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EB9CF"/>
                </a:solidFill>
                <a:latin typeface="Calibri"/>
              </a:rPr>
              <a:t>Survey synthesis, Chapter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20000"/>
            <a:ext cx="11094720" cy="4"/>
          </a:xfrm>
          <a:prstGeom prst="rect">
            <a:avLst/>
          </a:prstGeom>
          <a:solidFill>
            <a:srgbClr val="DC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60000"/>
            <a:ext cx="2130944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8B8D"/>
                </a:solidFill>
                <a:latin typeface="Cambria"/>
              </a:rPr>
              <a:t>General + 4 Specific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20000"/>
            <a:ext cx="213094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48B"/>
                </a:solidFill>
                <a:latin typeface="Calibri"/>
              </a:rPr>
              <a:t>Objectives — all fulfilled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9584" y="5060000"/>
            <a:ext cx="2130944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8B8D"/>
                </a:solidFill>
                <a:latin typeface="Cambria"/>
              </a:rPr>
              <a:t>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9584" y="5520000"/>
            <a:ext cx="213094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48B"/>
                </a:solidFill>
                <a:latin typeface="Calibri"/>
              </a:rPr>
              <a:t>Database tables modelled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0528" y="5060000"/>
            <a:ext cx="2130944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8B8D"/>
                </a:solidFill>
                <a:latin typeface="Cambria"/>
              </a:rPr>
              <a:t>99.4%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0528" y="5520000"/>
            <a:ext cx="213094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48B"/>
                </a:solidFill>
                <a:latin typeface="Calibri"/>
              </a:rPr>
              <a:t>Automated test pass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1472" y="5060000"/>
            <a:ext cx="2130944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8B8D"/>
                </a:solidFill>
                <a:latin typeface="Cambria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1472" y="5520000"/>
            <a:ext cx="213094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48B"/>
                </a:solidFill>
                <a:latin typeface="Calibri"/>
              </a:rPr>
              <a:t>Agile sprints on schedule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12416" y="5060000"/>
            <a:ext cx="2130944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F8B8D"/>
                </a:solidFill>
                <a:latin typeface="Cambria"/>
              </a:rPr>
              <a:t>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2416" y="5520000"/>
            <a:ext cx="213094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64748B"/>
                </a:solidFill>
                <a:latin typeface="Calibri"/>
              </a:rPr>
              <a:t>Survey respondents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8B8D"/>
                </a:solidFill>
                <a:latin typeface="Calibri"/>
              </a:rPr>
              <a:t>LIMITATIONS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3294B"/>
                </a:solidFill>
                <a:latin typeface="Cambria"/>
              </a:rPr>
              <a:t>An Honest Account of What the Pilot Does Not Yet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0000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0000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04592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0000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Piloted and validated against 2-3 CAMPOST agencies in Yaoundé, not the full national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3096" y="1640000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3096" y="1640000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7416" y="1804592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USSD Not Yet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416" y="2140000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The *123# channel was designed and modelled (NPSI switch integration) but not built — feature-phone users without a smartphone or web access cannot yet track or pay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94592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94592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59184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No Push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592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Status updates rely on in-app polling and SMS today; native push (FCM) is designed but not yet wired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3096" y="3194592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3096" y="3194592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416" y="3359184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GPS Is Phone-Based, Not Dedicated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416" y="3694592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Courier location comes from the Flutter app's phone GPS, not a dedicated GPS/GSM tracker module. 2026-grade dedicated trackers give continuous satellite+LTE updates (2-5m accuracy) independent of phone battery or app state; sourcing such devices (~$100-400/unit) was outside this project's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49184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49184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13776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Single-Region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49184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Render and TiDB Cloud deployment has not been load-tested for nationwide concurrent traffic.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3096" y="4749184"/>
            <a:ext cx="5469864" cy="1390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3096" y="4749184"/>
            <a:ext cx="73152" cy="1390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7416" y="4913776"/>
            <a:ext cx="4969864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94B"/>
                </a:solidFill>
                <a:latin typeface="Calibri"/>
              </a:rPr>
              <a:t>Token Refresh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416" y="5249184"/>
            <a:ext cx="4969864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69" b="0" i="0">
                <a:solidFill>
                  <a:srgbClr val="64748B"/>
                </a:solidFill>
                <a:latin typeface="Calibri"/>
              </a:rPr>
              <a:t>JWT access tokens are short-lived but automatic refresh-token rotation is not yet implemented.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93B"/>
                </a:solidFill>
                <a:latin typeface="Calibri"/>
              </a:rPr>
              <a:t>CONCLUSION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What SmartCAMPOST Contributes to CAMPOST, and Where It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30000"/>
            <a:ext cx="5469864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3B"/>
                </a:solidFill>
                <a:latin typeface="Calibri"/>
              </a:rPr>
              <a:t>CONTRIBUTION TO CAMPOST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00000"/>
            <a:ext cx="5469864" cy="10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37160"/>
            <a:ext cx="50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8B8D"/>
                </a:solidFill>
                <a:latin typeface="Calibri"/>
              </a:rPr>
              <a:t>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20000"/>
            <a:ext cx="500000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i="0">
                <a:solidFill>
                  <a:srgbClr val="C9D3E5"/>
                </a:solidFill>
                <a:latin typeface="Calibri"/>
              </a:rPr>
              <a:t>Real-time tracking, dual-QR verification, and OTP-confirmed delivery replace paper logbooks and phone-call status checks — cutting counter time and reconciliation errors agency-wide.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10000"/>
            <a:ext cx="5469864" cy="10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3047160"/>
            <a:ext cx="50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8B8D"/>
                </a:solidFill>
                <a:latin typeface="Calibri"/>
              </a:rPr>
              <a:t>Competitive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30000"/>
            <a:ext cx="500000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i="0">
                <a:solidFill>
                  <a:srgbClr val="C9D3E5"/>
                </a:solidFill>
                <a:latin typeface="Calibri"/>
              </a:rPr>
              <a:t>Matches the digital tracking and mobile-money experience customers already get from DHL and Jumia — letting CAMPOST compete on service quality, not just price, against private couriers.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0000"/>
            <a:ext cx="5469864" cy="100000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157160"/>
            <a:ext cx="50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8B8D"/>
                </a:solidFill>
                <a:latin typeface="Calibri"/>
              </a:rPr>
              <a:t>Customer Reach &amp; Inclusion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440000"/>
            <a:ext cx="5000000" cy="5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i="0">
                <a:solidFill>
                  <a:srgbClr val="C9D3E5"/>
                </a:solidFill>
                <a:latin typeface="Calibri"/>
              </a:rPr>
              <a:t>Native MTN MoMo / Orange Money payment reaches the 65%+ of Cameroonians already using mobile money; a designed USSD channel extends that reach further to feature-phone and rural users once built — turning a state postal service into a platform people choose, not just default 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7960" y="1430000"/>
            <a:ext cx="54054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2A93B"/>
                </a:solidFill>
                <a:latin typeface="Calibri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7960" y="1800000"/>
            <a:ext cx="54054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7960" y="2080000"/>
            <a:ext cx="5405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3E5"/>
                </a:solidFill>
                <a:latin typeface="Calibri"/>
              </a:rPr>
              <a:t>Pilot the system across 2-3 Yaoundé agencies with structured staff training before wider rollout.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7960" y="2780000"/>
            <a:ext cx="5405400" cy="4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7960" y="2900000"/>
            <a:ext cx="54054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For Further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7960" y="3180000"/>
            <a:ext cx="5405400" cy="1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D3E5"/>
                </a:solidFill>
                <a:latin typeface="Calibri"/>
              </a:rPr>
              <a:t>Build the *123# USSD channel to reach feature-phone users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D3E5"/>
                </a:solidFill>
                <a:latin typeface="Calibri"/>
              </a:rPr>
              <a:t>Source dedicated GPS/GSM tracker hardware for couriers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D3E5"/>
                </a:solidFill>
                <a:latin typeface="Calibri"/>
              </a:rPr>
              <a:t>Implement FCM push notifications to replace polling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D3E5"/>
                </a:solidFill>
                <a:latin typeface="Calibri"/>
              </a:rPr>
              <a:t>Load-test Render + TiDB Cloud for national-scale concurrency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D3E5"/>
                </a:solidFill>
                <a:latin typeface="Calibri"/>
              </a:rPr>
              <a:t>Add JWT refresh-token rotation for stronger session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103120"/>
            <a:ext cx="6400800" cy="6400800"/>
          </a:xfrm>
          <a:prstGeom prst="ellipse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731520"/>
            <a:ext cx="2926080" cy="292608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0000"/>
            <a:ext cx="96012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3E5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50000"/>
            <a:ext cx="35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40000"/>
            <a:ext cx="3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Nguend Arthur Johann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0000"/>
            <a:ext cx="35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MATRICULE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40000"/>
            <a:ext cx="3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ICTU20223180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0000"/>
            <a:ext cx="350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2A93B"/>
                </a:solidFill>
                <a:latin typeface="Calibri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000"/>
            <a:ext cx="350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Eng. TANWI NKIAMBOH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50000"/>
            <a:ext cx="11094720" cy="4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20000"/>
            <a:ext cx="1109472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2A93B"/>
                </a:solidFill>
                <a:latin typeface="Calibri"/>
              </a:rPr>
              <a:t>CITATION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20000"/>
            <a:ext cx="110947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9D3E5"/>
                </a:solidFill>
                <a:latin typeface="Calibri"/>
              </a:rPr>
              <a:t>Kuteyi, D., &amp; Winkler, H. (2022). Logistics challenges in Sub-Saharan Africa and opportunities for digitalisation. Sustainability, 14(4), 2399. https://doi.org/10.3390/su14042399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